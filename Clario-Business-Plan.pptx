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914400"/>
            <a:ext cx="5486400" cy="5486400"/>
          </a:xfrm>
          <a:prstGeom prst="rect">
            <a:avLst/>
          </a:prstGeom>
          <a:solidFill>
            <a:srgbClr val="1E40A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3B82F6"/>
                </a:solidFill>
                <a:latin typeface="Calibri"/>
              </a:rPr>
              <a:t>CLARIO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Business-Plan &amp; Go-to-Market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0B0C8"/>
                </a:solidFill>
                <a:latin typeface="Calibri"/>
              </a:rPr>
              <a:t>Das Mandantenportal fuer deutsche Steuerkanzleien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A0B0C8"/>
                </a:solidFill>
                <a:latin typeface="Calibri"/>
              </a:rPr>
              <a:t>Maerz 2026  |  Lennart Brodesser  |  Solofounder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A0B0C8"/>
                </a:solidFill>
                <a:latin typeface="Calibri"/>
              </a:rPr>
              <a:t>MVP fertig  |  0 Kunden  |  0 Revenue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Sofort-Aktionen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47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Security, Hosting, Go-Live in 2 Wochen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12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Go-to-Market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0545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 Kanaele zu den ersten 5 zahlenden Kunden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2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71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63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 Stufen mit Marktvergleich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29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Rechtliches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221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DSGVO, AVV, Personalausweis, AGB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187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Feature-Roadmap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Priorisiert nach Kundenwert (Monat 3-6)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46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Finanzplan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3892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Kosten, Revenue, Breakeven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Risiken &amp; Plan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7972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 Szenarien mit Gegenmassnahmen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1  SOFORT-AKTIONEN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KW14-KW15: In 2 Wochen von Code zu Live-App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515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572768"/>
            <a:ext cx="182880" cy="1828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40AF"/>
                </a:solidFill>
                <a:latin typeface="Calibri"/>
              </a:rPr>
              <a:t>Mo 30.03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Security Fixes
(5 kritische Luecken)</a:t>
            </a:r>
          </a:p>
        </p:txBody>
      </p:sp>
      <p:sp>
        <p:nvSpPr>
          <p:cNvPr id="8" name="Oval 7"/>
          <p:cNvSpPr/>
          <p:nvPr/>
        </p:nvSpPr>
        <p:spPr>
          <a:xfrm>
            <a:off x="3611880" y="1572768"/>
            <a:ext cx="182880" cy="1828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40AF"/>
                </a:solidFill>
                <a:latin typeface="Calibri"/>
              </a:rPr>
              <a:t>Di 31.03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Erster Browsertest
Manuell im Inkognito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1572768"/>
            <a:ext cx="182880" cy="1828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40AF"/>
                </a:solidFill>
                <a:latin typeface="Calibri"/>
              </a:rPr>
              <a:t>Mi 01.04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Bug-Fixes
Edge Functions Deploy</a:t>
            </a:r>
          </a:p>
        </p:txBody>
      </p:sp>
      <p:sp>
        <p:nvSpPr>
          <p:cNvPr id="14" name="Oval 13"/>
          <p:cNvSpPr/>
          <p:nvPr/>
        </p:nvSpPr>
        <p:spPr>
          <a:xfrm>
            <a:off x="7909560" y="1572768"/>
            <a:ext cx="182880" cy="1828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40AF"/>
                </a:solidFill>
                <a:latin typeface="Calibri"/>
              </a:rPr>
              <a:t>Do-Fr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Vercel Hosting
Domain + Impressum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1572768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KW15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Stripe Setup
Landing Page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10515600" cy="31089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Kritische Schritte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977639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3977639"/>
            <a:ext cx="54864" cy="2194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11479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40AF"/>
                </a:solidFill>
                <a:latin typeface="Calibri"/>
              </a:rPr>
              <a:t>Vercel Hosting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434839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vercel.com &gt; Sign Up &gt; Import Repo &gt; Framework: Vite &gt; ENV Vars setzen &gt; 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977639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977639"/>
            <a:ext cx="54864" cy="2194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11479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40AF"/>
                </a:solidFill>
                <a:latin typeface="Calibri"/>
              </a:rPr>
              <a:t>Impressum + DSGVO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34839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e-recht24.de (Impressum) + datenschutz-generator.de (DSE) &gt; als /impressum + /datenschutz einbauen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977639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3977639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411479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Stripe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434839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3 Produkte (49/99/199 EUR) &gt; Payment Links &gt; Webhook &gt; 30-Tage-Trial OHNE Kreditkarte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 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5 Kanaele zu den ersten 5 zahlenden Kunden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10312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82880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Netzwerk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B82F6"/>
                </a:solidFill>
                <a:latin typeface="Calibri"/>
              </a:rPr>
              <a:t>KW15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Eigener Steuerberater anrufen.
Bekannte um Intros bitten.
3 Demos in 2 Wochen.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210312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B82F6"/>
                </a:solidFill>
                <a:latin typeface="Calibri"/>
              </a:rPr>
              <a:t>KW16-18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832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10 Nachrichten/Tag.
Feedback fragen, nicht verkaufen.
6 Monate kostenlos anbieten.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645920"/>
            <a:ext cx="210312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182880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Verbaende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B82F6"/>
                </a:solidFill>
                <a:latin typeface="Calibri"/>
              </a:rPr>
              <a:t>KW17-20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3832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21 Steuerberaterkammern.
stb-web.de Forum.
Stammtisch-Vorstellungen.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645920"/>
            <a:ext cx="210312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Kongress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B82F6"/>
                </a:solidFill>
                <a:latin typeface="Calibri"/>
              </a:rPr>
              <a:t>4-5. Mai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3832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Berlin. 50 Visitenkarten.
10 Kontakte, 5 Demos.
DEIN WICHTIGSTES EVENT.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645920"/>
            <a:ext cx="210312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0" y="182880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Kaltakquise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B82F6"/>
                </a:solidFill>
                <a:latin typeface="Calibri"/>
              </a:rPr>
              <a:t>KW18+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3832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Erst mit Social Proof.
Vibe Prospecting fuer Kontakte.
E-Mail mit Testimonial.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2  LINKEDIN OUTREACH-NACHRICHT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6858000" cy="4114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4114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217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Hallo [Vorname],
ich entwickle gerade ein digitales Mandantenportal speziell fuer kleinere Kanzleien. Das Ziel: Mandanten schicken Unterlagen nicht mehr per E-Mail, sondern ueber einen einfachen Link -- inklusive Foto-Upload, digitaler Unterschrift und automatischer Erinnerungen.
Ich bin noch in der Fruehphase und suche 3-5 Steuerberater, die mir ehrliches Feedback geben. Dafuer biete ich 6 Monate kostenlose Nutzung an.
Haetten Sie 15 Minuten fuer einen kurzen Austausch?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Warum das funktioniert: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54864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Du verkaufst nicht -- du fragst nach Feedback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560320"/>
            <a:ext cx="54864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6 Monate kostenlos = kein Risiko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291840"/>
            <a:ext cx="54864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"Kleinere Kanzleien" = Zielgruppe fuehlt sich angesprochen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023360"/>
            <a:ext cx="54864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023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10/Tag = 50/Woche = 5 Gespraeche bei 10% Antwortrate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2  CONVERSION-ZIEL MONAT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>
                <a:solidFill>
                  <a:srgbClr val="64748B"/>
                </a:solidFill>
                <a:latin typeface="Calibri"/>
              </a:rPr>
              <a:t>225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Kontakte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CCCCCC"/>
                </a:solidFill>
                <a:latin typeface="Calibri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>
                <a:solidFill>
                  <a:srgbClr val="1E40AF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Demos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CCCCCC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>
                <a:solidFill>
                  <a:srgbClr val="3B82F6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Testnutzer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CCCCCC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>
                <a:solidFill>
                  <a:srgbClr val="059669"/>
                </a:solidFill>
                <a:latin typeface="Calibri"/>
              </a:rPr>
              <a:t>4-5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Zahlend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Aufschluesselung nach Kanal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930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Kanal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474720"/>
            <a:ext cx="16459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3493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Kontakte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3474720"/>
            <a:ext cx="16459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493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Demos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3474720"/>
            <a:ext cx="16459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493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3474720"/>
            <a:ext cx="16459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493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Zahlend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Persoenliches Netzwerk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84048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84048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84048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84048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5196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LinkedIn Outreach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425196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425196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25196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25196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663440"/>
            <a:ext cx="320040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709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Events / Stammtische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466344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0" y="4709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466344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0" y="4709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466344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709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4663440"/>
            <a:ext cx="1645920" cy="411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4709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07492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Kaltakquise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507492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23360" y="5120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507492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0" y="5120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507492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0" y="5120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507492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61120" y="5120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0-1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Schaetzungen basierend auf B2B-SaaS Conversion-Rates (10-15% Kontakt&gt;Demo, 40-50% Demo&gt;Test, 30-40% Test&gt;Zahlung). Echte Zahlen nach den ersten 50 Kontakten validieren.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3 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1A1A2E"/>
                </a:solidFill>
                <a:latin typeface="Calibri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EUR/Mo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Bis 30 Mandanten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3 Standard-Vorlagen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941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Digitale Unterschrift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50 KI-Pruefungen/Mo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782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622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Manuelle Erinnerungen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E-Mail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39" y="1051560"/>
            <a:ext cx="3566160" cy="5303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EMPFOHLEN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1371600"/>
            <a:ext cx="3474720" cy="4754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40AF"/>
                </a:solidFill>
                <a:latin typeface="Calibri"/>
              </a:rPr>
              <a:t>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1965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1A1A2E"/>
                </a:solidFill>
                <a:latin typeface="Calibri"/>
              </a:rPr>
              <a:t>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514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EUR/Mo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Bis 100 Mandanten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19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3310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Alle 7 + eigene Vorlagen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33101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36941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Digitale Unterschrift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36941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59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500 KI-Pruefungen/Mo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19" y="40782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44622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Automatische Erinnerungen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19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4846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Wiederkehrende Checklisten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19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5230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E-Mail + Chat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19" y="5230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Kanzlei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965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1A1A2E"/>
                </a:solidFill>
                <a:latin typeface="Calibri"/>
              </a:rPr>
              <a:t>199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514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EUR/Mo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Unbegrenzt Mandanten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310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Alle Vorlagen + Import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33101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6941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Digitale Unterschrift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36941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Unbegrenzt KI-Pruefungen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40782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4622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Individuelle Erinnerungen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846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Wiederkehrende Checklisten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5230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Support + Onboarding-Call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230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4  RECHTLICHES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Checkliste vor Go-Live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PFLICHT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99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Impressum (Par. 5 TMG)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91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Name, Anschrift, Telefon, E-Mail, USt-ID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969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PFLICHT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57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Datenschutzerklaerung (Art. 13 DSGVO)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50007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Verarbeitete Daten, Rechtsgrundlage, Auftragsverarbeiter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88336"/>
            <a:ext cx="1051560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PFLICHT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15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AVV (Art. 28 DSGVO)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00837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DPAs von Supabase, Resend, Anthropic downloaden + aufbewahren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PFLICHT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3741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Personalausweis (PersAuswG Par. 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6667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Kopie als Kopie kennzeichnen, 5J Loeschfrist, GwG Par. 8 Abs.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05072"/>
            <a:ext cx="1051560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Calibri"/>
              </a:rPr>
              <a:t>EMPFOHLEN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032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AGB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32511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Beta: einfache Seite. Zahlend: IT-Recht Kanzlei (30 EUR/Mo)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73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SPAETER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690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Gewerbe / UG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9834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Einzelunternehmen reicht. Ab 50K EUR: UG gruenden (500 EUR Notar)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21808"/>
            <a:ext cx="1051560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Calibri"/>
              </a:rPr>
              <a:t>EMPFOHLEN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IT-Sicherheitskonzept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6418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2-Seiter: Verschluesselung, Frankfurt, RLS, Backups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A580C"/>
                </a:solidFill>
                <a:latin typeface="Calibri"/>
              </a:rPr>
              <a:t>Keine Rechtsberatung. Fuer AVV, PersAuswG und Steuer IT-Recht-Anwalt konsultieren (~200-400 EUR Erstberatung).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5  FEATURE-ROADMAP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Monat 3-6: Priorisiert nach Kundenwert, nicht technischer Eleganz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PRIORITAET 1: Kunden verlangen 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Dokument-Ablehnung  (KW22-24)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Kanzlei lehnt ab mit Grund. Mandant bekommt E-Mail. #1 Anfrage.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4864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DATEV-Export  (KW24-28)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80% nutzen DATEV. Ohne Export halbiert sich die Zeitersparnis.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54864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Mandanten-Ansicht  (KW24-26)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Kanzlei sieht was der Mandant sieht. Reduziert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PRIORITAET 2: Wachstums-Features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54864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WhatsApp-Erinnerungen  (KW26-28)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E-Mail wird ignoriert. WhatsApp: 90%+ Oeffnungsrate. USP.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9748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54864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Mehrsprachigkeit  (KW28-30)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5468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TR/RU/AR/EN. Viele Mandanten sprechen kein Deutsch.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47472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474720"/>
            <a:ext cx="54864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White-Label  (KW30-32)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3192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Kanzlei-Logo, Farben, eigene URL. Upsell fuer 199-Tier.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PRIORITAET 3 (ab 50+ Kunden):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Chat im Portal  |  OCR Dokumentenerkennung  |  Dashboard Analytics  |  API fuer ADDISON/Agenda/Simba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6  FINANZPLAN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Monatliche 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Supabase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572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~115 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Vercel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~18 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Resend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677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~18 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151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Claude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151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~20-50 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Domain + E-Mail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62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~6 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39"/>
            <a:ext cx="475488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GESAMT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10127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~180 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Revenue-Projektion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13716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Monat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554480"/>
            <a:ext cx="109728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572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Kunden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554480"/>
            <a:ext cx="13716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MRR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1554480"/>
            <a:ext cx="13716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Netto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874520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8928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Apr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1874520"/>
            <a:ext cx="109728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1892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0 (Beta)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1874520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18928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0 EUR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1874520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18928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C2626"/>
                </a:solidFill>
                <a:latin typeface="Calibri"/>
              </a:rPr>
              <a:t>-180 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19456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Mai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19456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22128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219456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75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219456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C2626"/>
                </a:solidFill>
                <a:latin typeface="Calibri"/>
              </a:rPr>
              <a:t>-105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514599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53288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Jun 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2514599"/>
            <a:ext cx="109728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253288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2514599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253288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250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2514599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04120" y="253288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59669"/>
                </a:solidFill>
                <a:latin typeface="Calibri"/>
              </a:rPr>
              <a:t>+50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83464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2852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Jul 2026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283464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5240" y="28529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283464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2852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500 EUR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283464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04120" y="2852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59669"/>
                </a:solidFill>
                <a:latin typeface="Calibri"/>
              </a:rPr>
              <a:t>+300 EUR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154680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31729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Aug 2026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3154680"/>
            <a:ext cx="109728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35240" y="3172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0" y="3154680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32520" y="31729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800 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0" y="3154680"/>
            <a:ext cx="1371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4120" y="31729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59669"/>
                </a:solidFill>
                <a:latin typeface="Calibri"/>
              </a:rPr>
              <a:t>+580 EUR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347472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3493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Sep 2026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347472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5240" y="34930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18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0" y="347472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32520" y="3493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1.200 EUR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0" y="347472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04120" y="3493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59669"/>
                </a:solidFill>
                <a:latin typeface="Calibri"/>
              </a:rPr>
              <a:t>+950 EUR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4023360"/>
            <a:ext cx="10515600" cy="2468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4023360"/>
            <a:ext cx="54864" cy="2468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59669"/>
                </a:solidFill>
                <a:latin typeface="Calibri"/>
              </a:rPr>
              <a:t>Milestones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59669"/>
                </a:solidFill>
                <a:latin typeface="Calibri"/>
              </a:rPr>
              <a:t>3 Kunden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~200 EUR MRR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BREAKEVEN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616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10 Kunden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6616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~700 EUR/Mo Gewinn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6616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40AF"/>
                </a:solidFill>
                <a:latin typeface="Calibri"/>
              </a:rPr>
              <a:t>Nebenjob-Modus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79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30 Kunden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79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~2.100 EUR/Mo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79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40AF"/>
                </a:solidFill>
                <a:latin typeface="Calibri"/>
              </a:rPr>
              <a:t>Vollzeit-Einkommen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799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A1A2E"/>
                </a:solidFill>
                <a:latin typeface="Calibri"/>
              </a:rPr>
              <a:t>100 Kunden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799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~7.000 EUR/Mo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799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2E"/>
                </a:solidFill>
                <a:latin typeface="Calibri"/>
              </a:rPr>
              <a:t>Echtes SaaS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Alle Zahlen sind Schaetzungen. Die ersten 5 Gespraeche zeigen ob realistisch.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7  RISIKEN &amp; PLAN 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8412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8412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Kein Product-Market-Fit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A580C"/>
                </a:solidFill>
                <a:latin typeface="Calibri"/>
              </a:rPr>
              <a:t>Wahrscheinlichkeit: 30-40%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344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Plan B: Pivote auf GwG-Only (gesetzliche Pflicht)
Oder: andere Branchen (Anwaelte, Makler)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5156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4864" cy="8412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DATEV baut das Gleiche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C2626"/>
                </a:solidFill>
                <a:latin typeface="Calibri"/>
              </a:rPr>
              <a:t>Wahrscheinlichkeit: 60%+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Plan B: Geschwindigkeit + UX. Nische: Kanzleien ohne DATEV (~30%)
Langfristig: Portal-Layer UEBER DATEV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10515600" cy="8412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54864" cy="8412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Sicherheitsvorfall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C2626"/>
                </a:solidFill>
                <a:latin typeface="Calibri"/>
              </a:rPr>
              <a:t>Wahrscheinlichkeit: Niedrig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632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Plan B: Security Fixes SOFORT. Ab 10 Kunden: Pentest (2-5K EUR)
Cyber-Versicherung (~40 EUR/Mo)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105156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54864" cy="8412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Supabase-Abhaengigkeit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Wahrscheinlichkeit: Niedrig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776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Plan B: Open Source. Self-Hosting auf Hetzner (~30 EUR/Mo) moeglich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10515600" cy="8412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54864" cy="8412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Solo-Founder-Burnout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A580C"/>
                </a:solidFill>
                <a:latin typeface="Calibri"/>
              </a:rPr>
              <a:t>Wahrscheinlichkeit: 70%+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920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Plan B: Ab 15 Kunden: Werkstudent. Ab 30: Co-Founder
Feste Arbeitszeiten (StB arbeiten 9-18h)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760720"/>
            <a:ext cx="105156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760720"/>
            <a:ext cx="54864" cy="8412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Signatur nicht anerkannt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99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Wahrscheinlichkeit: Niedrig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8064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Plan B: Disclaimer einbauen. Notfalls: qualif. Anbieter
z.B. sign-me (Bundesdruckerei, 0.50-2 EUR/Sig)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DIE NAECHSTEN 4 WOCHEN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56032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KW14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Security + Test + Hosting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926080"/>
            <a:ext cx="2011680" cy="457200"/>
          </a:xfrm>
          <a:prstGeom prst="rect">
            <a:avLst/>
          </a:prstGeom>
          <a:solidFill>
            <a:srgbClr val="1E40A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App laeuft auf eigener Domain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56032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KW15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Stripe + Landing + Legal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926080"/>
            <a:ext cx="2011680" cy="457200"/>
          </a:xfrm>
          <a:prstGeom prst="rect">
            <a:avLst/>
          </a:prstGeom>
          <a:solidFill>
            <a:srgbClr val="1E40A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Registrierung und Zahlung moeglich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256032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B82F6"/>
                </a:solidFill>
                <a:latin typeface="Calibri"/>
              </a:rPr>
              <a:t>KW16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LinkedIn Outreach (10/Tag)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926080"/>
            <a:ext cx="2011680" cy="457200"/>
          </a:xfrm>
          <a:prstGeom prst="rect">
            <a:avLst/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Erste 3 Demo-Termine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554480"/>
            <a:ext cx="256032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59669"/>
                </a:solidFill>
                <a:latin typeface="Calibri"/>
              </a:rPr>
              <a:t>KW17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Demos + Feedback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926080"/>
            <a:ext cx="2011680" cy="457200"/>
          </a:xfrm>
          <a:prstGeom prst="rect">
            <a:avLst/>
          </a:prstGeom>
          <a:solidFill>
            <a:srgbClr val="0596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Erste 2 Testnutzer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114800"/>
            <a:ext cx="9418320" cy="20116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93C5FD"/>
                </a:solidFill>
                <a:latin typeface="Calibri"/>
              </a:rPr>
              <a:t>NORDSTERN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7548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Am 5. Mai stehst du auf dem Deutschen Steuerberaterkongress
in Berlin mit einer funktionierenden App,
3-5 Testnutzern, und einer Story die du erzaehlen kannst.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